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00A9CE"/>
                </a:solidFill>
                <a:latin typeface="Calibri"/>
              </a:rPr>
              <a:t>NTT DATA GUIDEWIRE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Calibri"/>
              </a:rPr>
              <a:t>GW SDLC Accelerator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8229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8A9BAB"/>
                </a:solidFill>
                <a:latin typeface="Calibri"/>
              </a:rPr>
              <a:t>AI-assisted lifecycle tooling for Guidewire InsuranceSuite — from requirements to release and operate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GuidewireAI · Internal Accelerator v1.0</a:t>
            </a:r>
            <a:br/>
            <a:r>
              <a:t>July 2026 · Confidential — For Internal &amp; Client 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Seven AI accelerators span the full Guidewire delivery lifecycle — compressing time-to-value at every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The GW SDLC Accelerator packages proven AI patterns into a single web application, complemented by a ready-to-run Katalon automation library.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A9CE"/>
                </a:solidFill>
                <a:latin typeface="Calibri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Guidewire programmes stall on repetitive manual work across story writing, code review, test design, UI automation, upgrade planning, and defect triage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Delivery centres lack consistent standards across geographies and seniority levels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UI test packs rot with every customisation and ski release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AMS teams face 24/7 defect volume with limited L2/L3 capacity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4884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A9CE"/>
                </a:solidFill>
                <a:latin typeface="Calibri"/>
              </a:rPr>
              <a:t>OUR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7 AI modules mapped to Plan → Build → Test → Release → Operate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1 Katalon accelerator with 12 ready-to-run flows across PC, CC, BC &amp; Jutro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Powered by Claude Sonnet via secure server-side API proxy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All outputs persisted to Neon Postgres and exportable as JSON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Indicative ROI: 30–70% effort reduction across targeted 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6634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7731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937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AI accelerators live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634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46634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47731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51937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Katalon flows shipped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46634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6634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7731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51937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SDLC phases covered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46634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46634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47731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1937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Automation frameworks supported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Each SDLC phase has a dedicated accelerator — creating a connected value chain from backlog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Lifecycle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2240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1">
                <a:solidFill>
                  <a:srgbClr val="8A9BAB"/>
                </a:solidFill>
                <a:latin typeface="Calibri"/>
              </a:rPr>
              <a:t>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22402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73736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Story Forge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0">
                <a:solidFill>
                  <a:srgbClr val="5A6D7E"/>
                </a:solidFill>
                <a:latin typeface="Calibri"/>
              </a:rPr>
              <a:t>Requirements → INVEST stories</a:t>
            </a:r>
            <a:br/>
            <a:r>
              <a:t>Gherkin ACs · GW touchpoints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5768" y="1417320"/>
            <a:ext cx="2240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1">
                <a:solidFill>
                  <a:srgbClr val="8A9BAB"/>
                </a:solidFill>
                <a:latin typeface="Calibri"/>
              </a:rPr>
              <a:t>BUILD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1691640"/>
            <a:ext cx="22402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73736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Code Review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5768" y="228600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0">
                <a:solidFill>
                  <a:srgbClr val="5A6D7E"/>
                </a:solidFill>
                <a:latin typeface="Calibri"/>
              </a:rPr>
              <a:t>Gosu · PCF · Integration</a:t>
            </a:r>
            <a:br/>
            <a:r>
              <a:t>Severity findings · Upgrade-safety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417320"/>
            <a:ext cx="2240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1">
                <a:solidFill>
                  <a:srgbClr val="8A9BAB"/>
                </a:solidFill>
                <a:latin typeface="Calibri"/>
              </a:rPr>
              <a:t>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1691640"/>
            <a:ext cx="22402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1496" y="173736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Test Strategist · Flow Automator · Test Migrator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228600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0">
                <a:solidFill>
                  <a:srgbClr val="5A6D7E"/>
                </a:solidFill>
                <a:latin typeface="Calibri"/>
              </a:rPr>
              <a:t>Pyramid cases · Katalon scripts</a:t>
            </a:r>
            <a:br/>
            <a:r>
              <a:t>Manual → automation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5784" y="1417320"/>
            <a:ext cx="2240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1">
                <a:solidFill>
                  <a:srgbClr val="8A9BAB"/>
                </a:solidFill>
                <a:latin typeface="Calibri"/>
              </a:rPr>
              <a:t>RELEASE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15784" y="1691640"/>
            <a:ext cx="22402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173736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Release Navigator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15784" y="228600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0">
                <a:solidFill>
                  <a:srgbClr val="5A6D7E"/>
                </a:solidFill>
                <a:latin typeface="Calibri"/>
              </a:rPr>
              <a:t>CI/CD maturity · Ski-release impact</a:t>
            </a:r>
            <a:br/>
            <a:r>
              <a:t>Pre-upgrade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65792" y="1417320"/>
            <a:ext cx="2240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1">
                <a:solidFill>
                  <a:srgbClr val="8A9BAB"/>
                </a:solidFill>
                <a:latin typeface="Calibri"/>
              </a:rPr>
              <a:t>OPERATE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5792" y="1691640"/>
            <a:ext cx="22402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11512" y="173736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Defect Triage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5792" y="228600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00" b="0">
                <a:solidFill>
                  <a:srgbClr val="5A6D7E"/>
                </a:solidFill>
                <a:latin typeface="Calibri"/>
              </a:rPr>
              <a:t>4-agent pipeline · Self-correction</a:t>
            </a:r>
            <a:br/>
            <a:r>
              <a:t>24/7 first-pass triage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10896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A9CE"/>
                </a:solidFill>
                <a:latin typeface="Calibri"/>
              </a:rPr>
              <a:t>TESTING ACCELERATORS (4)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3375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Story Forge — eliminates the blank-page problem for BAs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Test Strategist — keeps test design pace with development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Flow Automator — scaffolds Katalon UI regression in minutes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Test Migrator — converts legacy manual packs to automation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108960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A9CE"/>
                </a:solidFill>
                <a:latin typeface="Calibri"/>
              </a:rPr>
              <a:t>ANALYSIS ACCELERATORS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3375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Code Review Copilot — principal-level review on every commit-sized chunk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Release Navigator — evidence-based upgrade planning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Defect Triage Agent — autonomous multi-agent production triage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0">
                <a:solidFill>
                  <a:srgbClr val="00A9CE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Plan &amp; Build Accelerators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9BAB"/>
                </a:solidFill>
                <a:latin typeface="Calibri"/>
              </a:rPr>
              <a:t>Front-load quality at the requirements and code gates — where defects are cheapest to fix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Story Forge converts raw requirements into sprint-ready, Guidewire-mapped user stories in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Plan · Story Forge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Requirements in, sprint-ready stories out — with Gherkin ACs, Guidewire touchpoints, and Fibonacci estimates pre-populated.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Ingests BRD extracts, workshop notes, emails — any free-text requirements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Produces INVEST-compliant user stories with Gherkin acceptance criteria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Maps each story to Guidewire constructs: entities, PCF, plugins, Cloud API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Generates Fibonacci point estimates with rationale and explicit dependencies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Surfaces open questions for the BA — negative-path ACs by default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Output is JSON, import-ready for Jira or Azure DevOps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488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488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40–60%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791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Less effort per story written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21488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35440" y="21488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~2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6791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Saved per grooming sprint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00800" y="3383280"/>
          <a:ext cx="5303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84048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Values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Primary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PolicyCenter · ClaimCenter · BillingCenter · Cross-suite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Free-text requirements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AI 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Structured generation (single-pass)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Epic + stories JSON → Neon Postgres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Code Review Copilot delivers principal-level Guidewire review on every commit — catching defects at desk-check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Build · Code Review Copilot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Defects caught at review cost 10× less than at UAT — and consume zero reviewer calendar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Reviews Gosu, PCF, integration, GX, batch and rules code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Severity-calibrated findings: critical → info, with line-level locations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Concrete fixes naming the Guidewire construct to use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Upgrade-safety flags for deprecated APIs and internal.* packages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Multi-select profiles: Standards · Performance · Upgrade/Cloud · Security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Overall code-health score plus quick-win recommendations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488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488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791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Fewer human review cycles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32520" y="21488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32520" y="21488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2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10×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6791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Cheaper fix at review vs UAT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064240" y="2148840"/>
            <a:ext cx="109728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064240" y="2148840"/>
            <a:ext cx="109728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0" y="2258568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267919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Reviewer calendar time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3383280"/>
          <a:ext cx="53035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93192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Logic errors, null handling, edge cases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Query patterns, caching, batch efficiency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Naming, structure, Guidewire conventions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Injection, auth, data exposure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Upgrade-safety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OOTB overrides, deprecated APIs, Cloud readiness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0">
                <a:solidFill>
                  <a:srgbClr val="00A9CE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Test Accelerators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9BAB"/>
                </a:solidFill>
                <a:latin typeface="Calibri"/>
              </a:rPr>
              <a:t>Three complementary tools cover test design, UI automation generation, and legacy manual-to-automation conversion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Test Strategist enforces pyramid discipline — assigning the right harness to every test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Test · Test Strategist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Test design keeps pace with development — with harness selection enforced and test data staged upfront.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Derives executable test cases from stories, code, or defect descriptions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Selects harness per case: GUnit · GT-API · GT-UI · Manual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Maintains test pyramid health — no GT-UI for logic GUnit should own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Staged test data list eliminates blocked test execution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Each case names the acceptance criterion it covers — full traceability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148840"/>
          <a:ext cx="5303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20624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Harness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When Used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GUnit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Business logic, rules, calculations, entity operations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GT-API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Cloud API contracts, integration gateways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GT-UI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End-user journeys requiring screen interaction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Manual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Exploratory, visual, or environment-dependent scenarios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448056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48056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59028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01091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Faster test-case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32520" y="448056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448056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459028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501091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Higher automation ratio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064240" y="4480560"/>
            <a:ext cx="109728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64240" y="4480560"/>
            <a:ext cx="109728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0" y="4590288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501091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Blocked tests from missing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Flow Automator scaffolds keyword-driven Katalon UI automation for common Guidewire journeys in minutes, not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Test · Flow Automator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Regression UI packs scaffolded in minutes — with locators centralised in one keyword library per product.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148840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38912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Flows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PolicyCenter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Submission → bind · Mid-term change · Cancellation · Renewal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ClaimCenter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FNOL · Reserve + payment · Assign + close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BillingCenter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Direct-bill payment · Invoices · Producer + disbursement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Jutro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Digital quote-and-buy · Self-service FNOL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0" y="21488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488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60%+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791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Faster first-draft UI automation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32520" y="214884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32520" y="214884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2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67919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Ready-to-run flows in /katalon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064240" y="2148840"/>
            <a:ext cx="109728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064240" y="2148840"/>
            <a:ext cx="109728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64240" y="2258568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267919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Place to fix a locator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Keyword-driven: business actions in reusable libraries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Defensive XPath/CSS locators with label fallbacks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Environment profiles for URL/credential switching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Output matches bundled Katalon accelerator style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Test Migrator converts legacy manual regression packs into runnable automation — with honest gap analysis per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Test · Test Migrator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A legacy manual regression pack becomes automation drafts in minutes — with per-case verdicts on automate, fix-then-automate, or keep manual.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Ingests manual test cases from Excel, ALM, Zephyr, qTest — single or bulk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Converts each into a runnable automated script in the chosen framework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Surfaces gaps: missing preconditions, ambiguous steps, no verification point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Itemises test data per script with generate / stage / existing-record strategy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Honest automation verdict per case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148840"/>
          <a:ext cx="53035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93192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Katalon (Groovy)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Keyword-driven, matches /katalon style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Guidewire GT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GT-UI and GT-API harness scripts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Playwright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TypeScript test files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Selenium + Java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TestNG test classes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Cucumber BDD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Feature files with step definitions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457200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57200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68172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70%+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0235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Faster manual-to-automation conversion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457200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61120" y="457200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468172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Per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510235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Gap + test-data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828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0">
                <a:solidFill>
                  <a:srgbClr val="00A9CE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Analysis Accelerators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9BAB"/>
                </a:solidFill>
                <a:latin typeface="Calibri"/>
              </a:rPr>
              <a:t>Evidence-based decision support for release readiness and production defect management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Release Navigator reveals what the next ski release does to your customisations — before it lands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Release · Release Navigator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Upgrade planning starts from evidence, not guesswork — with effort bands that support AMS commercial conversations weeks earlier.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CI/CD Maturity Self-Check — 16 practices across 4 groups with live scoring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AI Impact Analysis — customisation inventory vs target ski release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Per-area impact rating, remediation actions, and regression focus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Effort band (S/M/L/XL) supports commercial scoping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Pre-upgrade checklist doubles as onboarding assessment for new AMS accounts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Target releases: Innsbruck · Hakuba · Garmisch · Las Leñas · Palisades · Next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148840"/>
          <a:ext cx="5303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93192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Practices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Source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Branching, PR reviews, merge policies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Build &amp; Deploy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CI pipelines, artefact management, env promotion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Automation coverage, regression gates, data management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Operations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Monitoring, rollback, incident response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448056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48056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59028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20–30%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01091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Less upgrade regression effort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32520" y="448056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448056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459028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Weeks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501091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Earlier remediation visibility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064240" y="4480560"/>
            <a:ext cx="109728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64240" y="4480560"/>
            <a:ext cx="109728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0" y="4590288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2-in-1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501091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Maturity + impact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Defect Triage Agent runs a four-agent pipeline with self-correction — delivering L2/L3 triage in minutes, 24/7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Operate · Defect Triage Agent (Agentic)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The only agentic module — a demonstrable multi-agent capability with confidence-gated self-correction for client showcases.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2377440" cy="64008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Intake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148840"/>
            <a:ext cx="2377440" cy="64008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2402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Investigator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148840"/>
            <a:ext cx="2377440" cy="64008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22402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Router 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20" y="2148840"/>
            <a:ext cx="2377440" cy="64008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22402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Fix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1752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Intake — structures raw defect report into structured case file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Investigator — ranked root-cause hypotheses with confidence scores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Router — assigns team, priority (P1–P4); loops back if confidence &lt; 65% (max 2 passes)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Fix Planner — workaround, permanent fix, regression coverage, prevention step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Every handoff renders on a live timeline with inspectable agent output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01752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01752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35–50%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5478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Faster mean-time-to-triage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32520" y="3017520"/>
            <a:ext cx="256032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32520" y="3017520"/>
            <a:ext cx="256032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252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24/7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35478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First-pass triage coverage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64240" y="3017520"/>
            <a:ext cx="1097280" cy="9601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64240" y="3017520"/>
            <a:ext cx="1097280" cy="4572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64240" y="3127248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51C2C"/>
                </a:solidFill>
                <a:latin typeface="Calibri"/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35478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A6D7E"/>
                </a:solidFill>
                <a:latin typeface="Calibri"/>
              </a:rPr>
              <a:t>Misrouting &amp; ping-pong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400800" y="4206240"/>
          <a:ext cx="530352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84048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Loop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Confidence &lt; 65% triggers re-investigation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Loop budget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Max 2 extra passes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Optional logs / stack trace / code raises confidence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The Katalon Flow Automation accelerator ships 12 ready-to-run flows — the physical execution layer behind Flow Automator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Companion Asset · Guidewire Flow Automation (Katalon)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5943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51C2C"/>
                </a:solidFill>
                <a:latin typeface="Calibri"/>
              </a:rPr>
              <a:t>UI test packs rot fast — this accelerator front-loads locators and boilerplate so teams focus on flows, not maintenance.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1488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877824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App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Test Case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Flow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PolicyCenter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PC01–PC04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PA submission → bind · Mid-term change · Cancellation · Renewal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ClaimCenter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CC01–CC03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FNOL · Reserve + payment · Assign + close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BillingCenter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BC01–BC03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Direct-bill payment · Invoices · Producer + disbursement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Jutro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JU01–JU02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Digital quote-and-buy · Self-service FNOL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114800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A9CE"/>
                </a:solidFill>
                <a:latin typeface="Calibri"/>
              </a:rPr>
              <a:t>KEYWORD LIBRARIES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GuidewireUI · LoginActions</a:t>
            </a:r>
          </a:p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PolicyCenterActions · ClaimCenterActions</a:t>
            </a:r>
          </a:p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BillingCenterActions · JutroActions · TestData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4114800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A9CE"/>
                </a:solidFill>
                <a:latin typeface="Calibri"/>
              </a:rPr>
              <a:t>TEST SUITES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34340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PC · CC · BC · Jutro Regression</a:t>
            </a:r>
          </a:p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Smoke — All Products</a:t>
            </a:r>
          </a:p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Profiles: default.glbl · qa.glbl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114800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A9CE"/>
                </a:solidFill>
                <a:latin typeface="Calibri"/>
              </a:rPr>
              <a:t>CI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34340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Headless via katalonc (Runtime Engine)</a:t>
            </a:r>
          </a:p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Katalon Studio 8.x+ — open /katalon directly</a:t>
            </a:r>
          </a:p>
          <a:p>
            <a:pPr>
              <a:spcAft>
                <a:spcPts val="600"/>
              </a:spcAft>
              <a:defRPr sz="900">
                <a:solidFill>
                  <a:srgbClr val="1A2B3C"/>
                </a:solidFill>
                <a:latin typeface="Calibri"/>
              </a:defRPr>
            </a:pPr>
            <a:r>
              <a:t>Defensive XPath: one-line fix per customisation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secure, serverless architecture keeps API keys server-side while persisting all outputs to project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303520" cy="64008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React 18 + Vite Frontend</a:t>
            </a:r>
            <a:br/>
            <a:r>
              <a:t>7 module pages · NTT DATA brand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24028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0A9CE"/>
                </a:solidFill>
                <a:latin typeface="Calibri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60320"/>
            <a:ext cx="5303520" cy="5029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A2B3C"/>
                </a:solidFill>
                <a:latin typeface="Calibri"/>
              </a:rPr>
              <a:t>Vercel Serverless API</a:t>
            </a:r>
            <a:br/>
            <a:r>
              <a:t>/api/chat.js · /api/projects.js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15468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0A9CE"/>
                </a:solidFill>
                <a:latin typeface="Calibri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74720"/>
            <a:ext cx="2468880" cy="5029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A2B3C"/>
                </a:solidFill>
                <a:latin typeface="Calibri"/>
              </a:rPr>
              <a:t>Anthropic API</a:t>
            </a:r>
            <a:br/>
            <a:r>
              <a:t>Claude Sonnet 4.6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3474720"/>
            <a:ext cx="2468880" cy="5029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356616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A2B3C"/>
                </a:solidFill>
                <a:latin typeface="Calibri"/>
              </a:rPr>
              <a:t>Neon Postgres</a:t>
            </a:r>
            <a:br/>
            <a:r>
              <a:t>Projects + artifacts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508760"/>
            <a:ext cx="5303520" cy="64008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6002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Katalon Studio Project (/katalon)</a:t>
            </a:r>
            <a:br/>
            <a:r>
              <a:t>Keyword libs → Test cases →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24028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0A9CE"/>
                </a:solidFill>
                <a:latin typeface="Calibri"/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560320"/>
            <a:ext cx="5303520" cy="50292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51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1A2B3C"/>
                </a:solidFill>
                <a:latin typeface="Calibri"/>
              </a:rPr>
              <a:t>katalonc (Runtime Engine)</a:t>
            </a:r>
            <a:br/>
            <a:r>
              <a:t>Headless CI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38328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A9CE"/>
                </a:solidFill>
                <a:latin typeface="Calibri"/>
              </a:rPr>
              <a:t>SECURITY POSTURE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57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ANTHROPIC_API_KEY — server-side only, never reaches browser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DATABASE_URL — Neon pooled connection on Vercel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All module outputs saved to project with JSON export</a:t>
            </a:r>
          </a:p>
          <a:p>
            <a:pPr>
              <a:spcAft>
                <a:spcPts val="600"/>
              </a:spcAft>
              <a:defRPr sz="1000">
                <a:solidFill>
                  <a:srgbClr val="1A2B3C"/>
                </a:solidFill>
                <a:latin typeface="Calibri"/>
              </a:defRPr>
            </a:pPr>
            <a:r>
              <a:t>SPA routing via vercel.json rewrites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Indicative ROI ranges from 30% to 70% effort reduction — concentrated at the highest-volume manual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Value at a Glance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91440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2286000"/>
                <a:gridCol w="2286000"/>
                <a:gridCol w="2194560"/>
              </a:tblGrid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Accelerator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Secondary Metric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Key Benefit</a:t>
                      </a:r>
                    </a:p>
                  </a:txBody>
                  <a:tcPr>
                    <a:solidFill>
                      <a:srgbClr val="051C2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Story Forge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40–60% less effort per 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~2 days saved per grooming sprint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Fewer AC gaps reaching SIT/UAT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Code Review Copilot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Build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30% fewer review cycles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10× cheaper fix at review vs UAT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Zero reviewer calendar time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Test Strategist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50% faster test-case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Higher automation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Fewer blocked tests from missing data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Flow Automator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60%+ faster UI automation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12 ready-to-run Katalon flows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One place to fix customised locators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Test Migrator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70%+ faster manual conversion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5 frameworks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Per-case gap + test-data analysis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Release Navigator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Release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20–30% less regression effort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Weeks earlier remediation visibility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2-in-1 maturity + impact analysis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1A2B3C"/>
                          </a:solidFill>
                        </a:defRPr>
                      </a:pPr>
                      <a:r>
                        <a:t>Defect Triage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Operate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35–50% faster MTTT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24/7 first-pass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2B3C"/>
                          </a:solidFill>
                        </a:defRPr>
                      </a:pPr>
                      <a:r>
                        <a:t>Lower misrouting and ping-pong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8A9BAB"/>
                </a:solidFill>
                <a:latin typeface="Calibri"/>
              </a:rPr>
              <a:t>All ROI figures are indicative benchmarks from the NTT DATA Guidewire Practice — update in src/lib/catalog.js as firm evidence accumulates.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phased adoption path moves teams from showcase demos to embedded workflow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9BAB"/>
                </a:solidFill>
                <a:latin typeface="Calibri"/>
              </a:rPr>
              <a:t>Recommended Adoption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20040" cy="32004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7276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C2C"/>
                </a:solidFill>
                <a:latin typeface="Calibri"/>
              </a:rPr>
              <a:t>Discover &amp; Demo (Week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D7E"/>
                </a:solidFill>
                <a:latin typeface="Calibri"/>
              </a:rPr>
              <a:t>Walk client stakeholders through the showcase. Lead with Defect Triage Agent and Flow Automator + Katalon live demo.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06040"/>
            <a:ext cx="320040" cy="32004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C2C"/>
                </a:solidFill>
                <a:latin typeface="Calibri"/>
              </a:rPr>
              <a:t>Pilot on Live Data (Weeks 2–4)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9864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D7E"/>
                </a:solidFill>
                <a:latin typeface="Calibri"/>
              </a:rPr>
              <a:t>Run Story Forge on real backlog grooming. Feed actual Gosu into Code Review. Convert 10–20 manual cases via Test Migrator.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57600"/>
            <a:ext cx="320040" cy="32004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67588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5760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C2C"/>
                </a:solidFill>
                <a:latin typeface="Calibri"/>
              </a:rPr>
              <a:t>Embed in Delivery (Month 2+)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D7E"/>
                </a:solidFill>
                <a:latin typeface="Calibri"/>
              </a:rPr>
              <a:t>Integrate outputs into Jira/Azure DevOps. Wire Katalon suites into CI. Establish Code Review as a pre-PR gate.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09160"/>
            <a:ext cx="320040" cy="32004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727448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0916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C2C"/>
                </a:solidFill>
                <a:latin typeface="Calibri"/>
              </a:rPr>
              <a:t>Measure &amp; Scale (Ongoing)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0176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D7E"/>
                </a:solidFill>
                <a:latin typeface="Calibri"/>
              </a:rPr>
              <a:t>Track ROI metrics per module. Extend Katalon keyword libraries for client customisations.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051C2C"/>
                </a:solidFill>
                <a:latin typeface="Calibri"/>
              </a:rPr>
              <a:t>GW SDLC Accelerator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446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8A9BAB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8A9BAB"/>
                </a:solidFill>
                <a:latin typeface="Calibri"/>
              </a:rPr>
              <a:t>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355080"/>
            <a:ext cx="12191695" cy="914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A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00A9CE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Calibri"/>
              </a:rPr>
              <a:t>Deploy. Demo. Deliver.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8A9BAB"/>
                </a:solidFill>
                <a:latin typeface="Calibri"/>
              </a:defRPr>
            </a:pPr>
            <a:r>
              <a:t>Deploy to Vercel with Anthropic + Neon credentials</a:t>
            </a:r>
          </a:p>
          <a:p>
            <a:pPr>
              <a:spcAft>
                <a:spcPts val="1000"/>
              </a:spcAft>
              <a:defRPr sz="1300">
                <a:solidFill>
                  <a:srgbClr val="8A9BAB"/>
                </a:solidFill>
                <a:latin typeface="Calibri"/>
              </a:defRPr>
            </a:pPr>
            <a:r>
              <a:t>Schedule a client showcase using the live application</a:t>
            </a:r>
          </a:p>
          <a:p>
            <a:pPr>
              <a:spcAft>
                <a:spcPts val="1000"/>
              </a:spcAft>
              <a:defRPr sz="1300">
                <a:solidFill>
                  <a:srgbClr val="8A9BAB"/>
                </a:solidFill>
                <a:latin typeface="Calibri"/>
              </a:defRPr>
            </a:pPr>
            <a:r>
              <a:t>Open /katalon in Katalon Studio for hands-on automation demo</a:t>
            </a:r>
          </a:p>
          <a:p>
            <a:pPr>
              <a:spcAft>
                <a:spcPts val="1000"/>
              </a:spcAft>
              <a:defRPr sz="1300">
                <a:solidFill>
                  <a:srgbClr val="8A9BAB"/>
                </a:solidFill>
                <a:latin typeface="Calibri"/>
              </a:defRPr>
            </a:pPr>
            <a:r>
              <a:t>Update ROI benchmarks in catalog.js as evidence firms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00A9CE"/>
                </a:solidFill>
                <a:latin typeface="Calibri"/>
              </a:rPr>
              <a:t>NTT DATA Guidewire Practice · GuidewireAI</a:t>
            </a:r>
            <a:br/>
            <a:r>
              <a:t>gw-sdlc-accelerator · Internal v1.0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